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8DAD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A8DADC"/>
                </a:solidFill>
                <a:latin typeface="Arial"/>
              </a:rPr>
              <a:t>Performance Comparison: DocuMind vs BM25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DocuMind (RAG)</c:v>
                </c:pt>
              </c:strCache>
            </c:strRef>
          </c:tx>
          <c:spPr>
            <a:solidFill>
              <a:srgbClr val="1B8C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Answer Relevance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0.85</c:v>
                </c:pt>
                <c:pt idx="2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 Baseline</c:v>
                </c:pt>
              </c:strCache>
            </c:strRef>
          </c:tx>
          <c:spPr>
            <a:solidFill>
              <a:srgbClr val="4A4A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Faithfulness</c:v>
                  </c:pt>
                  <c:pt idx="1">
                    <c:v>Answer Relevance</c:v>
                  </c:pt>
                  <c:pt idx="2">
                    <c:v>Context 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</c:v>
                </c:pt>
                <c:pt idx="1">
                  <c:v>0.67</c:v>
                </c:pt>
                <c:pt idx="2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A30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1B8CA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1B8CA6">
              <a:alpha val="25000"/>
            </a:srgbClr>
          </a:solidFill>
          <a:ln w="12700">
            <a:solidFill>
              <a:srgbClr val="1B8CA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560320"/>
            <a:ext cx="1097280" cy="1097280"/>
          </a:xfrm>
          <a:prstGeom prst="ellipse">
            <a:avLst/>
          </a:prstGeom>
          <a:solidFill>
            <a:srgbClr val="2DADC9">
              <a:alpha val="20000"/>
            </a:srgbClr>
          </a:solidFill>
          <a:ln w="12700">
            <a:solidFill>
              <a:srgbClr val="2DAD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PDF Chatbot using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114800" cy="3657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|  NLP  |  Semantic Search  |  Grounded QA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Report  —  2024–2025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737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9848"/>
            <a:ext cx="640080" cy="347472"/>
          </a:xfrm>
          <a:prstGeom prst="rect">
            <a:avLst/>
          </a:prstGeom>
          <a:solidFill>
            <a:srgbClr val="1B8CA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DocuMind?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RAG system enabling users to upload any PDF and ask natural language questions — with answers grounded strictly in the document.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109728" cy="1737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69848"/>
            <a:ext cx="640080" cy="347472"/>
          </a:xfrm>
          <a:prstGeom prst="rect">
            <a:avLst/>
          </a:prstGeom>
          <a:solidFill>
            <a:srgbClr val="1B8CA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051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Paradigm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1463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combines dense semantic retrieval (FAISS) with instruction-tuned generation (FLAN-T5) to eliminate hallucination.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109728" cy="1737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35808"/>
            <a:ext cx="640080" cy="347472"/>
          </a:xfrm>
          <a:prstGeom prst="rect">
            <a:avLst/>
          </a:prstGeom>
          <a:solidFill>
            <a:srgbClr val="1B8CA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3017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4290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Streamlit-powered web application with real-time chat, drag-and-drop PDF upload, and transparent retrieval display.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109728" cy="173736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35808"/>
            <a:ext cx="640080" cy="347472"/>
          </a:xfrm>
          <a:prstGeom prst="rect">
            <a:avLst/>
          </a:prstGeom>
          <a:solidFill>
            <a:srgbClr val="1B8CA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30175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34290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encodes document chunks into 384-dim vectors; FLAN-T5-large generates context-faithful answers with fallback for out-of-scope queries.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13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685800" cy="6858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in LLMs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language models generate plausible-sounding but factually incorrect responses for out-of-training-data queries. Faithfulness scores of 0.45–0.60 make them unreliable for document-specific tasks.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43000"/>
          </a:xfrm>
          <a:prstGeom prst="rect">
            <a:avLst/>
          </a:prstGeom>
          <a:solidFill>
            <a:srgbClr val="13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468880"/>
            <a:ext cx="685800" cy="6858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Knowledge Cutoff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encode a fixed parametric snapshot of the world. Proprietary PDFs, recent documents, and dynamic content are entirely invisible to the model — impossible to query accurately.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132233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94760"/>
            <a:ext cx="685800" cy="68580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Limitations (BM25)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and BM25 retrieval fails on vocabulary mismatch. A query for 'cardiac arrest protocol' misses a passage about 'myocardial infarction management' — same concept, different terms.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840480" cy="320040"/>
          </a:xfrm>
          <a:prstGeom prst="rect">
            <a:avLst/>
          </a:prstGeom>
          <a:solidFill>
            <a:srgbClr val="1B8CA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686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68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325880"/>
            <a:ext cx="8686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34440" y="1737360"/>
            <a:ext cx="868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chunk=500, overlap=50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0312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325880"/>
            <a:ext cx="8686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1737360"/>
            <a:ext cx="868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(384d)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325880"/>
            <a:ext cx="8686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353312"/>
            <a:ext cx="8686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1737360"/>
            <a:ext cx="868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IndexFlatL2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914400"/>
            <a:ext cx="4206240" cy="320040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960120" cy="822960"/>
          </a:xfrm>
          <a:prstGeom prst="rect">
            <a:avLst/>
          </a:prstGeom>
          <a:solidFill>
            <a:srgbClr val="1A2940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5331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325880"/>
            <a:ext cx="960120" cy="822960"/>
          </a:xfrm>
          <a:prstGeom prst="rect">
            <a:avLst/>
          </a:prstGeom>
          <a:solidFill>
            <a:srgbClr val="1A2940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135331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Query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MiniLM model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325880"/>
            <a:ext cx="960120" cy="822960"/>
          </a:xfrm>
          <a:prstGeom prst="rect">
            <a:avLst/>
          </a:prstGeom>
          <a:solidFill>
            <a:srgbClr val="1A2940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35331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L2 search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26680" y="1737360"/>
            <a:ext cx="914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1325880"/>
            <a:ext cx="960120" cy="822960"/>
          </a:xfrm>
          <a:prstGeom prst="rect">
            <a:avLst/>
          </a:prstGeom>
          <a:solidFill>
            <a:srgbClr val="1A2940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353312"/>
            <a:ext cx="960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1812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FLAN-T5-large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2514600"/>
            <a:ext cx="2103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2514600"/>
            <a:ext cx="2103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2862072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extracts text page-by-page using pdfminer. Output: LangChain Document objects with page_content + metadata.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2514600"/>
            <a:ext cx="2103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68880" y="2514600"/>
            <a:ext cx="2103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560320" y="2862072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splits on paragraphs then sentences then chars. Overlap of 50 chars preserves cross-boundary context.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514600"/>
            <a:ext cx="2103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2514600"/>
            <a:ext cx="2103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54880" y="2862072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IndexFlatL2 performs exact brute-force L2 nearest neighbor search. For unit vectors: min L2 = max cosine similarity.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2514600"/>
            <a:ext cx="2103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2514600"/>
            <a:ext cx="21031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532888"/>
            <a:ext cx="21031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49440" y="2862072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FLAN-T5-large receives context + question prompt. Returns factual answer or explicit fallback: 'Not found in document'.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Semantic Chunking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307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RecursiveCharacterTextSplitter: chunk_size=500, chunk_overlap=50. Hierarchical split: \n\n → \n → char. Preserves semantic coherence at boundaries.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96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Dense Embedding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13075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mean_pool(BERT_6L(T)) / ||e||   →   384-dim unit vector. Siamese fine-tuning on 1B+ pairs with contrastive loss (STSB: r=0.844).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317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68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L2 Similarity 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2679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D_L2(q,d) = sqrt(Σ(q_j - d_j)²). For unit vectors: D_L2² = 2(1 - cos(q,d)). Min L2 ≡ Max cosine. Top-K=3 retrieved.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3317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368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Prompt Engineering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strictly from context. If not found, say Not found in document. Context: {ctx} Question: {q} Answer:"  — explicit grounding instruction.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033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39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Instruction-Tuned Generation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40507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FLAN-T5-large (780M params). Enc-dec T5 fine-tuned on 1,836 tasks via FLAN. Beam search (num_beams=4), max_new_tokens=256.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06240" cy="1188720"/>
          </a:xfrm>
          <a:prstGeom prst="rect">
            <a:avLst/>
          </a:prstGeom>
          <a:solidFill>
            <a:srgbClr val="0F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703320"/>
            <a:ext cx="4206240" cy="292608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9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Fallback Control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405079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retrieved context has cosine similarity &lt; threshold or LLM detects no supporting evidence → returns 'Not found in document' explicitly.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5448" y="932688"/>
            <a:ext cx="1371600" cy="457200"/>
          </a:xfrm>
          <a:prstGeom prst="rect">
            <a:avLst/>
          </a:prstGeom>
          <a:solidFill>
            <a:srgbClr val="1B8CA6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27048" y="932688"/>
            <a:ext cx="1828800" cy="457200"/>
          </a:xfrm>
          <a:prstGeom prst="rect">
            <a:avLst/>
          </a:prstGeom>
          <a:solidFill>
            <a:srgbClr val="1B8CA6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9784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932688"/>
            <a:ext cx="2194560" cy="457200"/>
          </a:xfrm>
          <a:prstGeom prst="rect">
            <a:avLst/>
          </a:prstGeom>
          <a:solidFill>
            <a:srgbClr val="1B8CA6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978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50408" y="932688"/>
            <a:ext cx="3383280" cy="457200"/>
          </a:xfrm>
          <a:prstGeom prst="rect">
            <a:avLst/>
          </a:prstGeom>
          <a:solidFill>
            <a:srgbClr val="1B8CA6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5272" y="978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" y="14356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" y="1481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527048" y="143560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81912" y="1481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55848" y="143560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481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reactive UI framework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50408" y="1435608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5272" y="1481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upload, chat interface, session state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55448" y="1938528"/>
            <a:ext cx="13716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" y="1984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Loader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527048" y="1938528"/>
            <a:ext cx="18288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912" y="19842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1938528"/>
            <a:ext cx="219456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984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pdfminer-based extractor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50408" y="1938528"/>
            <a:ext cx="338328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5272" y="1984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text + metadata extraction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55448" y="244144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" y="2487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527048" y="244144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RecursiveCharTextSplitter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244144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24871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chunk=500, overlap=50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50408" y="2441448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24871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semantic segmentation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55448" y="2944368"/>
            <a:ext cx="13716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" y="2990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527048" y="2944368"/>
            <a:ext cx="18288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1912" y="2990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55848" y="2944368"/>
            <a:ext cx="219456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2990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384-dim, 22.7M params, ~14ms/sent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550408" y="2944368"/>
            <a:ext cx="338328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05272" y="2990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vector encoding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55448" y="344728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0312" y="34930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527048" y="344728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81912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IndexFlatL2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55848" y="344728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0712" y="34930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brute-force L2 search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550408" y="3447288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05272" y="3493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Sub-ms nearest neighbor retrieval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55448" y="3950208"/>
            <a:ext cx="13716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" y="3995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527048" y="3950208"/>
            <a:ext cx="182880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81912" y="3995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google/flan-t5-large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355848" y="3950208"/>
            <a:ext cx="219456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10712" y="3995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780M params, enc-dec T5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550408" y="3950208"/>
            <a:ext cx="3383280" cy="457200"/>
          </a:xfrm>
          <a:prstGeom prst="rect">
            <a:avLst/>
          </a:prstGeom>
          <a:solidFill>
            <a:srgbClr val="EEF5F9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05272" y="3995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Context-grounded answer generation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55448" y="445312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0312" y="44988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527048" y="445312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81912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355848" y="4453128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10712" y="4498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+ retriever abstraction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550408" y="4453128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05272" y="44988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41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CODE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PyPDFLoader(file_path)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loader.load()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= RecursiveCharacterTextSplitter(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231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chunk_size=500,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chunk_overlap=50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889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splitter.split_documents(docs)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HuggingFaceEmbeddings(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547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model_name='all-MiniLM-L6-v2'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986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 = FAISS.from_documents(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chunks, embeddings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425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4023360" cy="3977640"/>
          </a:xfrm>
          <a:prstGeom prst="rect">
            <a:avLst/>
          </a:prstGeom>
          <a:solidFill>
            <a:srgbClr val="0A1A2E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9418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CODE 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vectorstore.as_retriever(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6048" y="1572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search_type='similarity',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6048" y="1792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search_kwargs={'k': 3}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56048" y="2231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6048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HuggingFacePipeline(pipeline=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pipeline('text2text-generation',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28895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model='google/flan-t5-large'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6048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3547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56048" y="3767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qa_chain = RetrievalQA.from_chain_type(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3986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llm=llm,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5604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retriever=retriever,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56048" y="4425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chain_type_kwargs={'prompt': PROMPT}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56048" y="4645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4864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qa_chain.invoke(question)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RAGAS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9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5389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answer claims attributable to retrieved context. Measures hallucination prevention.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0" y="10332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0" y="1709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0" y="10332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0" y="1709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0" y="1143000"/>
            <a:ext cx="9144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197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+36.1%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3682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27523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generated answer and original query intent. Measures on-topic response quality.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029200" y="3008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400800" y="3008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0" y="2441448"/>
            <a:ext cx="9144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963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8595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6667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40507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ground-truth answer components present in retrieved top-3 chunks. Measures retrieval completeness.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63016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5029200" y="4306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6301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6400800" y="43068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0" y="3739896"/>
            <a:ext cx="914400" cy="502920"/>
          </a:xfrm>
          <a:prstGeom prst="rect">
            <a:avLst/>
          </a:prstGeom>
          <a:solidFill>
            <a:srgbClr val="E8F8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0" y="4334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Comparative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926080" cy="393192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80760" y="1508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+36.1%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0" y="15361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gain over BM25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80760" y="2029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 gain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80760" y="25511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 gain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80760" y="3072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A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0" y="30998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 per query via FAISS L2 search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80760" y="3593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32320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vectors from all-MiniLM-L6-v2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080760" y="41148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0.83+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32320" y="4142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RAGAS score across all metrics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509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PDF search via 384-dim FAISS vectors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QA with FLAN-T5-large (no hallucination)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fallback: 'Not found in document'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60904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 with Streamlit session 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CPU-deployable — no GPU required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02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domain generalization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50208"/>
            <a:ext cx="182880" cy="182880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retrieval citation display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914400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509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371600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89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50992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self-decides retrieval need + critiques own output for factual support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865376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836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50992" y="1865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evaluates chunk relevance; triggers web search if confidence 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359152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3774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RAG-Fusion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0992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parallel retrieval fused via Reciprocal Rank Fusion (RRF)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852928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712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50992" y="2852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construction for multi-hop relational reasoning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346704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36499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50992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ensemble for improved recall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3840480"/>
            <a:ext cx="7772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2DAD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8587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50992" y="3840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re-ranking of top-K chunks before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 successfully demonstrates a production-quality RAG architecture that eliminates the three core failure modes of traditional document QA systems.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23444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4114800" cy="329184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37744" cy="237744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Eliminated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Context-conditioned FLAN-T5 generation with explicit fallback prevents fabricated answers.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4114800" cy="123444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91640"/>
            <a:ext cx="4114800" cy="329184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737360"/>
            <a:ext cx="237744" cy="237744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Resolved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externalizes document knowledge — no model retraining required.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114800" cy="123444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54680"/>
            <a:ext cx="4114800" cy="329184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237744" cy="237744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 transcend keyword matching with 384-dim dense vectors.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4114800" cy="1234440"/>
          </a:xfrm>
          <a:prstGeom prst="rect">
            <a:avLst/>
          </a:prstGeom>
          <a:solidFill>
            <a:srgbClr val="0A1A2E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54680"/>
            <a:ext cx="4114800" cy="329184"/>
          </a:xfrm>
          <a:prstGeom prst="rect">
            <a:avLst/>
          </a:prstGeom>
          <a:solidFill>
            <a:srgbClr val="0A3050"/>
          </a:solidFill>
          <a:ln w="12700">
            <a:solidFill>
              <a:srgbClr val="0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200400"/>
            <a:ext cx="237744" cy="237744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0.83 | Relevance 0.85 | Context Recall 0.86 — validated via RAGAS.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DocuMind  —  Grounded. Semantic. Reliable.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DocuMind - Intelligent PDF Chatbot using RAG</dc:title>
  <dc:subject>PptxGenJS Presentation</dc:subject>
  <dc:creator>PptxGenJS</dc:creator>
  <cp:lastModifiedBy>PptxGenJS</cp:lastModifiedBy>
  <cp:revision>1</cp:revision>
  <dcterms:created xsi:type="dcterms:W3CDTF">2026-04-29T20:40:42Z</dcterms:created>
  <dcterms:modified xsi:type="dcterms:W3CDTF">2026-04-29T20:40:42Z</dcterms:modified>
</cp:coreProperties>
</file>